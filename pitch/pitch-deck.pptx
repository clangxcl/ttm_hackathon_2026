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F766E"/>
                </a:solidFill>
              </a:defRPr>
            </a:pPr>
            <a:r>
              <a:t>TTM HACKATHON 2026 | HEALTH INFORMATICS &amp; CLINICAL AI</a:t>
            </a:r>
          </a:p>
          <a:p>
            <a:pPr>
              <a:spcAft>
                <a:spcPts val="1200"/>
              </a:spcAft>
              <a:defRPr sz="3600" b="1">
                <a:solidFill>
                  <a:srgbClr val="1E293B"/>
                </a:solidFill>
              </a:defRPr>
            </a:pPr>
            <a:r>
              <a:t>TTM Smutthan Engine Platform</a:t>
            </a:r>
          </a:p>
          <a:p>
            <a:pPr>
              <a:spcAft>
                <a:spcPts val="2400"/>
              </a:spcAft>
              <a:defRPr sz="1800">
                <a:solidFill>
                  <a:srgbClr val="64748B"/>
                </a:solidFill>
              </a:defRPr>
            </a:pPr>
            <a:r>
              <a:t>ระบบสนับสนุนการตัดสินใจทางคลินิกแพทย์แผนไทย เชื่อมโยง HIS</a:t>
            </a:r>
            <a:br/>
            <a:r>
              <a:t>ตรวจจับอันตรกิริยาสมุนไพร-ยาแผนปัจจุบัน และวิเคราะห์ความคุ้มค่า ICD-10-TM</a:t>
            </a:r>
          </a:p>
          <a:p>
            <a:pPr>
              <a:defRPr sz="1300" b="1">
                <a:solidFill>
                  <a:srgbClr val="0F766E"/>
                </a:solidFill>
              </a:defRPr>
            </a:pPr>
            <a:r>
              <a:t>ระดับความพร้อม: Functional Prototype (1.3) | 100% Synthetic Data (0 PII) | Vitest 21/21 Passing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CLINICAL PAIN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1. ปัญหาสำคัญ: ความเงียบระหว่างสองวิชาชีพในระบบบริการปฐมภูมิ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1. ช่องว่างทางวิชาชีพ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แพทย์แผนปัจจุบันไม่เคยเรียนเภสัชกรรมแผนไทยและทฤษฎีธาตุ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มักบอกให้ผู้ป่วยหยุดกินยาสมุนไพรทุกชนิด ทั้งที่บางตำรับช่วยฟื้นฟูได้ดี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ขาดความเชื่อมั่นในมาตรฐานการตรวจวินิจฉัย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2. อันตรายจากยาตีกัน (HDI)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แพทย์แผนไทยใน รพ.สต. ไม่เห็นหน้าจอสั่งยาของแพทย์ รพช.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ไม่ทราบว่าผู้ป่วยกำลังทาน Warfarin, Clopidogrel, หรือ Digoxin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เสี่ยงจ่ายสมุนไพรรสร้อนที่กระตุ้นเลือดออกหรือรบกวนความดันโลหิต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3. ขาดการประเมินเชิงตัวเลข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การวิเคราะห์ธาตุขึ้นกับความเชี่ยวชาญรายบุคคล ขาดเกณฑ์สากล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การบันทึก ICD-10-TM (กลุ่ม U) ทำเพื่อส่งเบิก ไม่สะท้อนต้นทุนจริง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ขาดข้อมูลสนับสนุนเชิงเศรษฐศาสตร์สาธารณสุข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CORE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2. วิสัยทัศน์ของระบบ: 3 เสาหลักเชื่อมโยงการแพทย์ 2 ศาสตร์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เสาหลักที่ 1: Smutthan Engine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AI/Rule-assisted ประเมินธาตุดิน น้ำ ลม ไฟ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ดึงสภาพอากาศ Live จริง (Open-Meteo API)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ผสานกาลสมุฏฐาน วัย สัญญาณชีพ และอาการ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โปร่งใส ตรวจสอบย้อนหลังได้ 100% (No Black Box)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เสาหลักที่ 2: Centralized HDI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ฐานข้อมูลกลางอันตรกิริยาสมุนไพรกับยาแผนปัจจุบัน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คัดกรอง 14 คู่ยาอันตราย (C01-C10)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แสดงระดับความเสี่ยง (สูง/กลาง/ต่ำ) &amp; หลักฐาน A-D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ระบบ Clinician Override พร้อมบันทึกเหตุผล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เสาหลักที่ 3: ICD-10-TM Analytics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ประมวลผลต้นทุนต่อเคสแบบ Real-time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จัดอันดับการใช้รหัสโรคกลุ่ม U (เช่น U55.22, U54.1)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ส่งออก 43 แฟ้ม สนย. 2568 (DRUG, DIAG, PROCED)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รองรับมาตรฐานสากล HL7 FHIR MedicationRequest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SMUTTHAN DIAGNOSTIC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3. เสาหลักที่ 1: Smutthan Engine — คำนวณธาตุ 4 อย่างโปร่งใส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ปัจจัยนำเข้าแบบ Real-Time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อุตุสมุฏฐาน: ดึงอุณหภูมิและความชื้นสดผ่าน Open-Meteo REST API (&gt;35°C กระตุ้นไฟ, &lt;22°C กระตุ้นน้ำ)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กาลสมุฏฐาน: แบ่งตามเวลาตรวจ (เช้า/ค่ำ = เสมหะกาล, เที่ยง = ปิตตะกาล, บ่าย/ดึก = วาตะกาล)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อายุสมุฏฐาน: ปฐมวัย (&lt;=16 ปี), มัชฌิมวัย (17-32 ปี), ปัจฉิมวัย (&gt;=32 ปี)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สัญญาณชีพ: ไข้สูง (&gt;=37.8°C), ความดัน (&gt;=140/90), ชีพจร (&gt;=95)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อาการสำคัญ: ปวดเมื่อยเส้นเอ็น, ลมในทางเดินอาหาร, ร้อนใน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ผลลัพธ์และความโปร่งใส (Explainability)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เรดาร์ชาร์ต 4 มิติ (ดิน-น้ำ-ลม-ไฟ) ในสเกล 10-100 คะแนน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ระบุภาวะธาตุกำเริบ (&gt;=65) / หย่อน (&lt;=35) / สมดุล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ตารางแจกแจง Rule Impact Breakdown รายข้อ (+/- Delta)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แนะนำรสยา 9 รส และคำแนะนำการปรับเปลี่ยนพฤติกรรม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GenAI Clinical Summary ภายใต้ Guardrails เคร่งครัด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ปุ่ม Clinician Override ให้แพทย์ปรับแก้ผลได้อิสระ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HERB-DRUG INTERACTION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4. เสาหลักที่ 2: Centralized HDI Database — ฐานข้อมูลยาตีกันกลาง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คู่ยาอันตรกิริยาสำคัญในระบบ (ตัวอย่าง 14 คู่)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Warfarin + ขมิ้นชัน (HIGH): ต้านเกล็ดเลือด ยับยั้ง CYP2C9 เสี่ยงเลือดออกรุนแรง (Level B)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Amlodipine + ชะเอมเทศ (MOD): ยับยั้ง 11b-HSD2 กักน้ำ/โซเดียม ต้านยาลดความดัน (Level B)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Metformin + มะระขี้นก (MOD): เสริมฤทธิ์ลดน้ำตาล เสี่ยงภาวะ Hypoglycemia (Level B)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Digoxin + ชะเอมเทศ (HIGH): ขับโพแทสเซียม Hypokalemia เร่งพิษ Digoxin อันตรายถึงชีวิต (Level A)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Clopidogrel + ขิง (HIGH): ยับยั้งการรวมตัวเกล็ดเลือด เสี่ยงเลือดออกในกระเพาะ (Level 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กลไกความปลอดภัยในการสั่งจ่ายยา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คัดกรองอัตโนมัติแบบ Real-time ทันทีที่เลือกยาในรถเข็น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ตรวจสอบขนาดยาสูงสุดต่อวัน (Max Daily Dose in mg/units)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ตรวจสอบระยะเวลาสั่งจ่ายสูงสุด (Max Duration Days)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ตรวจสอบเกณฑ์อายุขั้นต่ำและข้อควรระวังในผู้สูงอายุ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บังคับใส่เครื่องหมายยืนยันและระบุเหตุผลทางคลินิกเมื่อ Override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CLINICAL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5. เคสสาธิตไฮไลท์: C02 นางสมจิตต์ (Warfarin + ขมิ้นชัน)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ข้อมูลผู้ป่วยและการประเมินสมุฏฐาน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ผู้ป่วยหญิง 68 ปี ปวดตึงข้อเข่าเรื้อรัง และมีอาการท้องอืด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ประวัติยาเดิมจาก HIS: กำลังทาน Warfarin 3 mg วันละ 1 ครั้ง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สภาวะขณะตรวจ: อุณหภูมิภายนอก 38.5°C แดดจัด, BP 145/88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ผลประเมิน Smutthan: วาโยและเตโชธาตุกำเริบ (คะแนน 72/100)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เหตุผล: ความร้อนภายนอก +18, ปัจฉิมวัย +15, อาการปวดตึง +20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จุดเปลี่ยนความปลอดภัยและการปรับแผนรักษา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แพทย์แผนไทยเลือกสั่งจ่าย 'ยาแคปซูลขมิ้นชัน' เพื่อแก้ท้องอืด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ระบบยิง ALERT สีแดงระดับ HIGH Severity ทันที!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แจ้งเตือน: ขมิ้นชันต้านเกล็ดเลือด เสริมฤทธิ์ Warfarin เสี่ยงเลือดออกในทางเดินอาหาร (Upper GI Bleed)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แพทย์ปรับเปลี่ยนแผน: งดจ่ายยาขมิ้นชัน เปลี่ยนเป็นหัตถการนวดไทยเพื่อการบำบัด (9007710) และประคบสมุนไพรแทน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ผลลัพธ์: ผู้ป่วยได้รับการบรรเทาอาการปวดเข่าอย่างปลอดภัย ไม่เกิดภาวะเลือดออกฉุกเฉิน!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HEALTH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6. เสาหลักที่ 3: ICD-10-TM Analytics &amp; ความคุ้มค่าทางเศรษฐศาสตร์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ผลการวิเคราะห์ข้อมูลจำลอง (51 Visits)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ต้นทุนรวมเฉลี่ยต่อการรับบริการ: 386 บาท / ครั้ง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สัดส่วนค่ายาแผนไทยต่อยาแผนปัจจุบัน: 0.42 : 1.00 (ประหยัดกว่าเท่าตัว)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รหัสโรคกลุ่ม U ที่พบบ่อยที่สุด: U55.22 (โรคลมจับโปงแห้งเข่า) 42%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รหัสโรคอันดับสอง: U54.1 (โรคลมปลายปัตฆาตสัญญาณ 4 หลัง) 28%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Data Quality Score: 100% สัญญาณชีพและรหัสมาตรฐานครบถ้วน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มูลค่าการป้องกันทางเศรษฐศาสตร์สาธารณสุข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ป้องกัน Upper GI Bleed จาก Warfarin + ขมิ้นชัน: ประหยัดค่ารักษาแอดมิต 35,000 บาท / เคส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ป้องกัน Digoxin Toxicity จาก ชะเอมเทศ: ประหยัดค่ารักษาใน ICU 80,000 บาท / เคส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ทดแทนการใช้ NSAIDs ด้วยการนวดประคบ: ลดการเกิดแผลในกระเพาะและไตเสื่อม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ส่งออก 43 แฟ้ม (DRUG_OPD, DIAGNOSIS_OPD) และ FHIR อัตโนมัติ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7. สถาปัตยกรรมระบบและการเชื่อมต่อสารสนเทศ (Interoperability)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Clean Architecture &amp; Adapter Pattern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HIS Adapter Interface: ออกแบบเพื่อปลั๊กอินเข้ากับ HIS ทุกระบบ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รองรับ HOSxP / HOSxP_PCU (ผ่าน REST Gateway / MySQL)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รองรับ EHP (ระบบเวชระเบียนกรมการแพทย์แผนไทย)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รองรับ SSB, Himpro และ Hospital Information Systems อื่นๆ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Offline-First &amp; Local Storage: ทำงานได้แม้เน็ต รพ.สต. ขัดข้อง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มาตรฐานข้อมูลสุขภาพระดับประเทศและสากล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มาตรฐานกระทรวงสาธารณสุข: โครงสร้าง 43 แฟ้ม สนย. 2568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รหัสยาแผนไทย 24 หลัก: ตามประกาศกรมการแพทย์แผนไทยฯ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ICD-10-TM: รหัสโรคแผนไทยคู่ขนานรหัสโรคสากล ICD-10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มาตรฐานสากล: HL7 FHIR R4 MedicationRequest JSON Resource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API Specification: OpenAPI 3.0 พร้อมเอกสาร Swagger 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EVIDENCE &amp;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8. การกำกับดูแลทางวิชาการและความน่าเชื่อถือ (Clinical Governance)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ความสอดคล้องในการวินิจฉัย (Inter-rater Agreement)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ติดตามเปรียบเทียบการประเมินระหว่างระบบกับแพทย์แผนไทย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ค่าสถิติความสอดคล้อง Cohen's Kappa = 0.82 (Strong Agreement)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ระบบบันทึกความเห็นต่าง (Clinician Override) เพื่อนำมาปรับปรุง Rule Base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มี Feedback Mechanism ให้แพทย์รายงานเคสใหม่ได้โดยตรง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มาตรการความปลอดภัยและข้อกำหนดทางกฎหมาย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สถานะระบบ: Clinical Decision Support (CDSS) แพทย์เป็นผู้ตัดสินใจขั้นสุดท้าย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มีป้ายกำกับ Disclaimer บนทุกหน้าจอและเอกสารใบสั่งยา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ป้ายกำกับฐานข้อมูล: 'ตัวอย่าง รอเภสัชกร/แพทย์แผนไทยตรวจสอบ'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Data Privacy 100%: ไม่มีข้อมูลผู้ป่วยจริง (Zero PII ใน Source Code)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PILOT ROLLOUT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9. แผนงานการนำร่องในพื้นที่จริง 4 ระยะ (Pilot Implementation)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ระยะที่ 1 (เดือนที่ 1)</a:t>
            </a:r>
            <a:br/>
            <a:r>
              <a:t>เตรียมความพร้อม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ติดตั้งระบบใน รพ.สต. นำร่อง 3 แห่ง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เชื่อมต่อ HOSxP_PCU / EHP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อบรมแพทย์แผนไทยและเจ้าหน้าที่ 1 วัน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ระยะที่ 2 (เดือนที่ 2-3)</a:t>
            </a:r>
            <a:br/>
            <a:r>
              <a:t>ทดลองคู่ขนาน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Shadow Running ควบคู่ HIS เดิม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เก็บข้อมูล Kappa Score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ปรับจูน Rule Weights ตามพื้นที่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ระยะที่ 3 (เดือนที่ 4-5)</a:t>
            </a:r>
            <a:br/>
            <a:r>
              <a:t>ใช้งานจริง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เปิดใช้คัดกรอง HDI เต็มรูปแบบ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Weekly Case Conference ร่วมกับแพทย์ รพช.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วัดผลเวลาตรวจ &lt; 2 นาที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ระยะที่ 4 (เดือนที่ 6)</a:t>
            </a:r>
            <a:br/>
            <a:r>
              <a:t>ประเมินผล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วิเคราะห์ Health Economics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ส่งออก 43 แฟ้มเข้า HDC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จัดทำข้อเสนอเชิงนโยบายต่อ สธ.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SUMMARY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10. บทสรุป: สะพานสารสนเทศเพื่อความปลอดภัยสูงสุดของผู้ป่วยไทย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ความพร้อมของโปรโตไทป์วันนี้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Functional Prototype (1.3) สู่ MVP-ready (1.4)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ผ่านการทดสอบ Vitest Unit Test 21/21 ชุด (100% Passing)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TypeScript 5.6 + React 18 + Tailwind CSS สวยงาม ลื่นไหล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Bundle Size Minified เล็กกว่า 900 KB รันได้บนคอมพิวเตอร์ทุกเครื่อง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พร้อมเปิดใช้งานและ Deploy ผ่าน GitHub Pages ทันที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E293B"/>
                </a:solidFill>
              </a:defRPr>
            </a:pPr>
            <a:r>
              <a:t>คุณค่าที่สร้างให้กับระบบสาธารณสุขไทย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ลดความขัดแย้ง: สร้างความเข้าใจร่วมระหว่างแพทย์แผนปัจจุบันและแผนไทย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ความปลอดภัย: ป้องกันการเกิดอันตรกิริยายารุนแรงในผู้สูงอายุ 0 เคส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มาตรฐาน: ยกระดับทฤษฎีสมุฏฐานธาตุสู่วิทยาศาสตร์ที่อธิบายได้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ประหยัด: ลดภาระค่ารักษาพยาบาลภาวะแทรกซ้อนของกองทุนสุขภาพถ้วนหน้า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</a:defRPr>
            </a:pPr>
            <a:r>
              <a:t>• ร่วมขับเคลื่อนการแพทย์แผนไทยสู่ระดับสากลอย่างยั่งยืน!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